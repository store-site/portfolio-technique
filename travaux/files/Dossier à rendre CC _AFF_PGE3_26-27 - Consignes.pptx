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0"/>
  </p:notesMasterIdLst>
  <p:sldIdLst>
    <p:sldId id="263" r:id="rId2"/>
    <p:sldId id="261" r:id="rId3"/>
    <p:sldId id="265" r:id="rId4"/>
    <p:sldId id="267" r:id="rId5"/>
    <p:sldId id="264" r:id="rId6"/>
    <p:sldId id="268" r:id="rId7"/>
    <p:sldId id="270" r:id="rId8"/>
    <p:sldId id="258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152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D6BC27-4CF7-4DB3-8B15-F4A130386FE5}" type="datetimeFigureOut">
              <a:rPr lang="fr-FR" smtClean="0"/>
              <a:t>2026-09-24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485AD-D2BC-410A-A00C-5E41BD4AF4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219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485AD-D2BC-410A-A00C-5E41BD4AF43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0053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7">
            <a:extLst>
              <a:ext uri="{FF2B5EF4-FFF2-40B4-BE49-F238E27FC236}">
                <a16:creationId xmlns:a16="http://schemas.microsoft.com/office/drawing/2014/main" id="{E3C0925B-6D08-40FF-8C52-46B6C36CC25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54451" y="9497265"/>
            <a:ext cx="2949575" cy="499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85" tIns="47844" rIns="95685" bIns="47844" anchor="b"/>
          <a:lstStyle>
            <a:lvl1pPr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54088">
              <a:spcBef>
                <a:spcPct val="30000"/>
              </a:spcBef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540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7EC832F-EA9E-4EDB-98A8-A17FA1D3FD1C}" type="slidenum">
              <a:rPr lang="fr-FR" altLang="fr-FR" sz="1300"/>
              <a:pPr algn="r" eaLnBrk="1" hangingPunct="1">
                <a:spcBef>
                  <a:spcPct val="0"/>
                </a:spcBef>
              </a:pPr>
              <a:t>4</a:t>
            </a:fld>
            <a:endParaRPr lang="fr-FR" altLang="fr-FR" sz="1300"/>
          </a:p>
        </p:txBody>
      </p:sp>
      <p:sp>
        <p:nvSpPr>
          <p:cNvPr id="265219" name="Rectangle 2">
            <a:extLst>
              <a:ext uri="{FF2B5EF4-FFF2-40B4-BE49-F238E27FC236}">
                <a16:creationId xmlns:a16="http://schemas.microsoft.com/office/drawing/2014/main" id="{19292AF2-5902-4655-A636-6E6688FEA5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52475"/>
            <a:ext cx="4999038" cy="3748088"/>
          </a:xfrm>
          <a:solidFill>
            <a:srgbClr val="FFFFFF"/>
          </a:solidFill>
          <a:ln/>
        </p:spPr>
      </p:sp>
      <p:sp>
        <p:nvSpPr>
          <p:cNvPr id="265220" name="Rectangle 3">
            <a:extLst>
              <a:ext uri="{FF2B5EF4-FFF2-40B4-BE49-F238E27FC236}">
                <a16:creationId xmlns:a16="http://schemas.microsoft.com/office/drawing/2014/main" id="{4629713F-4820-4462-9408-D8FDB81CC3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875" y="4747037"/>
            <a:ext cx="4995863" cy="4499629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FR" altLang="fr-FR"/>
          </a:p>
        </p:txBody>
      </p:sp>
      <p:sp>
        <p:nvSpPr>
          <p:cNvPr id="265221" name="Espace réservé de la date 1">
            <a:extLst>
              <a:ext uri="{FF2B5EF4-FFF2-40B4-BE49-F238E27FC236}">
                <a16:creationId xmlns:a16="http://schemas.microsoft.com/office/drawing/2014/main" id="{2BC28376-D423-4CD8-B160-2E0558CC00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 sz="1300"/>
          </a:p>
        </p:txBody>
      </p:sp>
      <p:sp>
        <p:nvSpPr>
          <p:cNvPr id="265222" name="Espace réservé du pied de page 2">
            <a:extLst>
              <a:ext uri="{FF2B5EF4-FFF2-40B4-BE49-F238E27FC236}">
                <a16:creationId xmlns:a16="http://schemas.microsoft.com/office/drawing/2014/main" id="{E00C3860-F9E3-4BAA-8738-56095008A8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 sz="1300"/>
          </a:p>
        </p:txBody>
      </p:sp>
      <p:sp>
        <p:nvSpPr>
          <p:cNvPr id="265223" name="Espace réservé du numéro de diapositive 3">
            <a:extLst>
              <a:ext uri="{FF2B5EF4-FFF2-40B4-BE49-F238E27FC236}">
                <a16:creationId xmlns:a16="http://schemas.microsoft.com/office/drawing/2014/main" id="{0F7A04D4-6424-43EC-9CF4-7896752D9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55675"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55675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8A7F530C-DA4A-4157-894B-BB996A9A5A46}" type="slidenum">
              <a:rPr lang="fr-FR" altLang="fr-FR" sz="1300"/>
              <a:pPr/>
              <a:t>4</a:t>
            </a:fld>
            <a:endParaRPr lang="fr-FR" altLang="fr-FR" sz="1300"/>
          </a:p>
        </p:txBody>
      </p:sp>
    </p:spTree>
    <p:extLst>
      <p:ext uri="{BB962C8B-B14F-4D97-AF65-F5344CB8AC3E}">
        <p14:creationId xmlns:p14="http://schemas.microsoft.com/office/powerpoint/2010/main" val="700159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 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485AD-D2BC-410A-A00C-5E41BD4AF43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771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G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" descr="C:\Users\msejourn\Desktop\Photo-PPT-2016-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27" t="15941" r="-19" b="14985"/>
          <a:stretch/>
        </p:blipFill>
        <p:spPr bwMode="auto">
          <a:xfrm>
            <a:off x="3251" y="0"/>
            <a:ext cx="9144000" cy="685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0" y="6309384"/>
            <a:ext cx="9144000" cy="576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3155489" y="3068961"/>
            <a:ext cx="2808312" cy="2304256"/>
          </a:xfrm>
          <a:prstGeom prst="rect">
            <a:avLst/>
          </a:prstGeom>
          <a:solidFill>
            <a:srgbClr val="F2F2F2">
              <a:alpha val="9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/>
        </p:nvSpPr>
        <p:spPr>
          <a:xfrm>
            <a:off x="0" y="5949319"/>
            <a:ext cx="9147251" cy="425233"/>
          </a:xfrm>
          <a:prstGeom prst="rect">
            <a:avLst/>
          </a:prstGeom>
          <a:solidFill>
            <a:srgbClr val="FF98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52" name="Picture 4" descr="C:\Users\msejourn\Desktop\Alliance-Artem-Blanc-B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374553"/>
            <a:ext cx="809425" cy="404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9" name="Picture 11" descr="C:\Users\msejourn\Desktop\Accreditations-ppt-2016-0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6353411"/>
            <a:ext cx="1605339" cy="446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texte 9"/>
          <p:cNvSpPr>
            <a:spLocks noGrp="1"/>
          </p:cNvSpPr>
          <p:nvPr>
            <p:ph type="body" sz="quarter" idx="10"/>
          </p:nvPr>
        </p:nvSpPr>
        <p:spPr>
          <a:xfrm>
            <a:off x="3314789" y="3247394"/>
            <a:ext cx="2520925" cy="97369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fr-FR" sz="2800" b="0" kern="1200" cap="all" baseline="0" dirty="0" smtClean="0">
                <a:solidFill>
                  <a:srgbClr val="FF9800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 hasCustomPrompt="1"/>
          </p:nvPr>
        </p:nvSpPr>
        <p:spPr>
          <a:xfrm>
            <a:off x="3297314" y="4437112"/>
            <a:ext cx="2555875" cy="720576"/>
          </a:xfrm>
          <a:prstGeom prst="rect">
            <a:avLst/>
          </a:prstGeom>
        </p:spPr>
        <p:txBody>
          <a:bodyPr/>
          <a:lstStyle>
            <a:lvl1pPr marL="0" algn="ctr">
              <a:defRPr sz="1800" b="0" baseline="0">
                <a:solidFill>
                  <a:srgbClr val="FF9800"/>
                </a:solidFill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Modifiez le sous titre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5488" y="765498"/>
            <a:ext cx="2808313" cy="2303463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316" y="1189372"/>
            <a:ext cx="2712656" cy="1519914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158" y="6458253"/>
            <a:ext cx="1906972" cy="23731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TITRE + INF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4067944" y="2420888"/>
            <a:ext cx="3816176" cy="431552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MODIFIEZ LE TITRE</a:t>
            </a:r>
          </a:p>
        </p:txBody>
      </p:sp>
      <p:sp>
        <p:nvSpPr>
          <p:cNvPr id="2" name="Rectangle 1"/>
          <p:cNvSpPr/>
          <p:nvPr/>
        </p:nvSpPr>
        <p:spPr>
          <a:xfrm>
            <a:off x="521728" y="1412775"/>
            <a:ext cx="1609951" cy="5471404"/>
          </a:xfrm>
          <a:custGeom>
            <a:avLst/>
            <a:gdLst>
              <a:gd name="connsiteX0" fmla="*/ 0 w 1584176"/>
              <a:gd name="connsiteY0" fmla="*/ 0 h 5832648"/>
              <a:gd name="connsiteX1" fmla="*/ 1584176 w 1584176"/>
              <a:gd name="connsiteY1" fmla="*/ 0 h 5832648"/>
              <a:gd name="connsiteX2" fmla="*/ 1584176 w 1584176"/>
              <a:gd name="connsiteY2" fmla="*/ 5832648 h 5832648"/>
              <a:gd name="connsiteX3" fmla="*/ 0 w 1584176"/>
              <a:gd name="connsiteY3" fmla="*/ 5832648 h 5832648"/>
              <a:gd name="connsiteX4" fmla="*/ 0 w 1584176"/>
              <a:gd name="connsiteY4" fmla="*/ 0 h 5832648"/>
              <a:gd name="connsiteX0" fmla="*/ 0 w 1584176"/>
              <a:gd name="connsiteY0" fmla="*/ 1012 h 5833660"/>
              <a:gd name="connsiteX1" fmla="*/ 764876 w 1584176"/>
              <a:gd name="connsiteY1" fmla="*/ 0 h 5833660"/>
              <a:gd name="connsiteX2" fmla="*/ 1584176 w 1584176"/>
              <a:gd name="connsiteY2" fmla="*/ 1012 h 5833660"/>
              <a:gd name="connsiteX3" fmla="*/ 1584176 w 1584176"/>
              <a:gd name="connsiteY3" fmla="*/ 5833660 h 5833660"/>
              <a:gd name="connsiteX4" fmla="*/ 0 w 1584176"/>
              <a:gd name="connsiteY4" fmla="*/ 5833660 h 5833660"/>
              <a:gd name="connsiteX5" fmla="*/ 0 w 1584176"/>
              <a:gd name="connsiteY5" fmla="*/ 1012 h 5833660"/>
              <a:gd name="connsiteX0" fmla="*/ 0 w 1584176"/>
              <a:gd name="connsiteY0" fmla="*/ 118020 h 5950668"/>
              <a:gd name="connsiteX1" fmla="*/ 769210 w 1584176"/>
              <a:gd name="connsiteY1" fmla="*/ 0 h 5950668"/>
              <a:gd name="connsiteX2" fmla="*/ 1584176 w 1584176"/>
              <a:gd name="connsiteY2" fmla="*/ 118020 h 5950668"/>
              <a:gd name="connsiteX3" fmla="*/ 1584176 w 1584176"/>
              <a:gd name="connsiteY3" fmla="*/ 5950668 h 5950668"/>
              <a:gd name="connsiteX4" fmla="*/ 0 w 1584176"/>
              <a:gd name="connsiteY4" fmla="*/ 5950668 h 5950668"/>
              <a:gd name="connsiteX5" fmla="*/ 0 w 1584176"/>
              <a:gd name="connsiteY5" fmla="*/ 118020 h 5950668"/>
              <a:gd name="connsiteX0" fmla="*/ 0 w 1584176"/>
              <a:gd name="connsiteY0" fmla="*/ 139688 h 5972336"/>
              <a:gd name="connsiteX1" fmla="*/ 769210 w 1584176"/>
              <a:gd name="connsiteY1" fmla="*/ 0 h 5972336"/>
              <a:gd name="connsiteX2" fmla="*/ 1584176 w 1584176"/>
              <a:gd name="connsiteY2" fmla="*/ 139688 h 5972336"/>
              <a:gd name="connsiteX3" fmla="*/ 1584176 w 1584176"/>
              <a:gd name="connsiteY3" fmla="*/ 5972336 h 5972336"/>
              <a:gd name="connsiteX4" fmla="*/ 0 w 1584176"/>
              <a:gd name="connsiteY4" fmla="*/ 5972336 h 5972336"/>
              <a:gd name="connsiteX5" fmla="*/ 0 w 1584176"/>
              <a:gd name="connsiteY5" fmla="*/ 139688 h 5972336"/>
              <a:gd name="connsiteX0" fmla="*/ 7863 w 1592039"/>
              <a:gd name="connsiteY0" fmla="*/ 139688 h 5972336"/>
              <a:gd name="connsiteX1" fmla="*/ 777073 w 1592039"/>
              <a:gd name="connsiteY1" fmla="*/ 0 h 5972336"/>
              <a:gd name="connsiteX2" fmla="*/ 1592039 w 1592039"/>
              <a:gd name="connsiteY2" fmla="*/ 139688 h 5972336"/>
              <a:gd name="connsiteX3" fmla="*/ 1592039 w 1592039"/>
              <a:gd name="connsiteY3" fmla="*/ 5972336 h 5972336"/>
              <a:gd name="connsiteX4" fmla="*/ 0 w 1592039"/>
              <a:gd name="connsiteY4" fmla="*/ 5463453 h 5972336"/>
              <a:gd name="connsiteX5" fmla="*/ 7863 w 1592039"/>
              <a:gd name="connsiteY5" fmla="*/ 139688 h 5972336"/>
              <a:gd name="connsiteX0" fmla="*/ 0 w 1584176"/>
              <a:gd name="connsiteY0" fmla="*/ 139688 h 5972336"/>
              <a:gd name="connsiteX1" fmla="*/ 769210 w 1584176"/>
              <a:gd name="connsiteY1" fmla="*/ 0 h 5972336"/>
              <a:gd name="connsiteX2" fmla="*/ 1584176 w 1584176"/>
              <a:gd name="connsiteY2" fmla="*/ 139688 h 5972336"/>
              <a:gd name="connsiteX3" fmla="*/ 1584176 w 1584176"/>
              <a:gd name="connsiteY3" fmla="*/ 5972336 h 5972336"/>
              <a:gd name="connsiteX4" fmla="*/ 7862 w 1584176"/>
              <a:gd name="connsiteY4" fmla="*/ 5471404 h 5972336"/>
              <a:gd name="connsiteX5" fmla="*/ 0 w 1584176"/>
              <a:gd name="connsiteY5" fmla="*/ 139688 h 5972336"/>
              <a:gd name="connsiteX0" fmla="*/ 0 w 1584176"/>
              <a:gd name="connsiteY0" fmla="*/ 139688 h 5487307"/>
              <a:gd name="connsiteX1" fmla="*/ 769210 w 1584176"/>
              <a:gd name="connsiteY1" fmla="*/ 0 h 5487307"/>
              <a:gd name="connsiteX2" fmla="*/ 1584176 w 1584176"/>
              <a:gd name="connsiteY2" fmla="*/ 139688 h 5487307"/>
              <a:gd name="connsiteX3" fmla="*/ 1584176 w 1584176"/>
              <a:gd name="connsiteY3" fmla="*/ 5487307 h 5487307"/>
              <a:gd name="connsiteX4" fmla="*/ 7862 w 1584176"/>
              <a:gd name="connsiteY4" fmla="*/ 5471404 h 5487307"/>
              <a:gd name="connsiteX5" fmla="*/ 0 w 1584176"/>
              <a:gd name="connsiteY5" fmla="*/ 139688 h 5487307"/>
              <a:gd name="connsiteX0" fmla="*/ 0 w 1592039"/>
              <a:gd name="connsiteY0" fmla="*/ 139688 h 5471404"/>
              <a:gd name="connsiteX1" fmla="*/ 769210 w 1592039"/>
              <a:gd name="connsiteY1" fmla="*/ 0 h 5471404"/>
              <a:gd name="connsiteX2" fmla="*/ 1584176 w 1592039"/>
              <a:gd name="connsiteY2" fmla="*/ 139688 h 5471404"/>
              <a:gd name="connsiteX3" fmla="*/ 1592039 w 1592039"/>
              <a:gd name="connsiteY3" fmla="*/ 5471404 h 5471404"/>
              <a:gd name="connsiteX4" fmla="*/ 7862 w 1592039"/>
              <a:gd name="connsiteY4" fmla="*/ 5471404 h 5471404"/>
              <a:gd name="connsiteX5" fmla="*/ 0 w 1592039"/>
              <a:gd name="connsiteY5" fmla="*/ 139688 h 5471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92039" h="5471404">
                <a:moveTo>
                  <a:pt x="0" y="139688"/>
                </a:moveTo>
                <a:lnTo>
                  <a:pt x="769210" y="0"/>
                </a:lnTo>
                <a:lnTo>
                  <a:pt x="1584176" y="139688"/>
                </a:lnTo>
                <a:lnTo>
                  <a:pt x="1592039" y="5471404"/>
                </a:lnTo>
                <a:lnTo>
                  <a:pt x="7862" y="5471404"/>
                </a:lnTo>
                <a:cubicBezTo>
                  <a:pt x="5241" y="3694165"/>
                  <a:pt x="2621" y="1916927"/>
                  <a:pt x="0" y="13968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space réservé du texte 12"/>
          <p:cNvSpPr>
            <a:spLocks noGrp="1"/>
          </p:cNvSpPr>
          <p:nvPr>
            <p:ph type="body" sz="quarter" idx="16" hasCustomPrompt="1"/>
          </p:nvPr>
        </p:nvSpPr>
        <p:spPr>
          <a:xfrm>
            <a:off x="653181" y="2348880"/>
            <a:ext cx="1347043" cy="295275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1B300"/>
              </a:buClr>
              <a:buFont typeface="Wingdings" panose="05000000000000000000" pitchFamily="2" charset="2"/>
              <a:buNone/>
              <a:defRPr sz="1200" b="0"/>
            </a:lvl1pPr>
            <a:lvl2pPr marL="173736" marR="0" indent="-173736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100"/>
            </a:lvl2pPr>
            <a:lvl3pPr marL="402336" indent="-164592">
              <a:buClr>
                <a:srgbClr val="F1B300"/>
              </a:buClr>
              <a:buFont typeface="Wingdings" panose="05000000000000000000" pitchFamily="2" charset="2"/>
              <a:buChar char="§"/>
              <a:defRPr/>
            </a:lvl3pPr>
            <a:lvl4pPr marL="630936" indent="-164592">
              <a:buClr>
                <a:srgbClr val="F1B300"/>
              </a:buClr>
              <a:buFont typeface="Wingdings" panose="05000000000000000000" pitchFamily="2" charset="2"/>
              <a:buChar char="§"/>
              <a:defRPr/>
            </a:lvl4pPr>
            <a:lvl5pPr marL="859536" indent="-173736">
              <a:buClr>
                <a:srgbClr val="F1B30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fr-FR" dirty="0"/>
              <a:t>Texte Arial noir </a:t>
            </a:r>
          </a:p>
          <a:p>
            <a:pPr lvl="0"/>
            <a:r>
              <a:rPr lang="fr-FR" dirty="0"/>
              <a:t>avec ou </a:t>
            </a:r>
          </a:p>
          <a:p>
            <a:pPr lvl="0"/>
            <a:r>
              <a:rPr lang="fr-FR" dirty="0"/>
              <a:t>sans puces</a:t>
            </a:r>
          </a:p>
          <a:p>
            <a:pPr lvl="0"/>
            <a:r>
              <a:rPr lang="fr-FR" dirty="0"/>
              <a:t> </a:t>
            </a:r>
          </a:p>
          <a:p>
            <a:pPr lvl="1"/>
            <a:r>
              <a:rPr lang="fr-FR" dirty="0"/>
              <a:t>Puce</a:t>
            </a:r>
          </a:p>
          <a:p>
            <a:pPr lvl="1"/>
            <a:r>
              <a:rPr lang="fr-FR" dirty="0"/>
              <a:t>Puce</a:t>
            </a:r>
          </a:p>
          <a:p>
            <a:pPr lvl="1"/>
            <a:r>
              <a:rPr lang="fr-FR" dirty="0"/>
              <a:t>Puce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692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E &amp; PUCES"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539552" y="2564904"/>
            <a:ext cx="4968552" cy="431750"/>
          </a:xfrm>
          <a:prstGeom prst="rect">
            <a:avLst/>
          </a:prstGeom>
        </p:spPr>
        <p:txBody>
          <a:bodyPr/>
          <a:lstStyle>
            <a:lvl1pPr>
              <a:defRPr sz="1800" b="1" baseline="0">
                <a:solidFill>
                  <a:srgbClr val="FF9800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Modifiez le sous-titre – Arial Gras 18</a:t>
            </a:r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3563888" y="1052736"/>
            <a:ext cx="4968552" cy="431750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FF9800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Modifiez le titre – Arial Gras 20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6" hasCustomPrompt="1"/>
          </p:nvPr>
        </p:nvSpPr>
        <p:spPr>
          <a:xfrm>
            <a:off x="539750" y="3284538"/>
            <a:ext cx="8064500" cy="2952750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F1B300"/>
              </a:buClr>
              <a:buFont typeface="Wingdings" panose="05000000000000000000" pitchFamily="2" charset="2"/>
              <a:buNone/>
              <a:defRPr b="0"/>
            </a:lvl1pPr>
            <a:lvl2pPr marL="173736" marR="0" indent="-173736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9800"/>
              </a:buClr>
              <a:buSzTx/>
              <a:buFont typeface="Wingdings" panose="05000000000000000000" pitchFamily="2" charset="2"/>
              <a:buChar char="§"/>
              <a:tabLst/>
              <a:defRPr/>
            </a:lvl2pPr>
            <a:lvl3pPr marL="402336" indent="-164592">
              <a:buClr>
                <a:srgbClr val="F1B300"/>
              </a:buClr>
              <a:buFont typeface="Wingdings" panose="05000000000000000000" pitchFamily="2" charset="2"/>
              <a:buChar char="§"/>
              <a:defRPr/>
            </a:lvl3pPr>
            <a:lvl4pPr marL="630936" indent="-164592">
              <a:buClr>
                <a:srgbClr val="F1B300"/>
              </a:buClr>
              <a:buFont typeface="Wingdings" panose="05000000000000000000" pitchFamily="2" charset="2"/>
              <a:buChar char="§"/>
              <a:defRPr/>
            </a:lvl4pPr>
            <a:lvl5pPr marL="859536" indent="-173736">
              <a:buClr>
                <a:srgbClr val="F1B30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fr-FR" dirty="0"/>
              <a:t>Texte Arial noir – avec ou sans puces</a:t>
            </a:r>
          </a:p>
          <a:p>
            <a:pPr lvl="1"/>
            <a:r>
              <a:rPr lang="fr-FR" dirty="0"/>
              <a:t>Puce</a:t>
            </a:r>
          </a:p>
          <a:p>
            <a:pPr lvl="1"/>
            <a:r>
              <a:rPr lang="fr-FR" dirty="0"/>
              <a:t>Puce</a:t>
            </a:r>
          </a:p>
          <a:p>
            <a:pPr lvl="1"/>
            <a:r>
              <a:rPr lang="fr-FR" dirty="0"/>
              <a:t>Puce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1819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E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539552" y="2564904"/>
            <a:ext cx="4968552" cy="431750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FF9800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Modifiez le sous-titre – Arial Gras 18</a:t>
            </a:r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3563888" y="1052736"/>
            <a:ext cx="4968552" cy="4317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FF9800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Modifiez le titre – Arial Gras 20</a:t>
            </a:r>
          </a:p>
        </p:txBody>
      </p:sp>
      <p:sp>
        <p:nvSpPr>
          <p:cNvPr id="8" name="Espace réservé du texte 12"/>
          <p:cNvSpPr>
            <a:spLocks noGrp="1"/>
          </p:cNvSpPr>
          <p:nvPr>
            <p:ph type="body" sz="quarter" idx="16" hasCustomPrompt="1"/>
          </p:nvPr>
        </p:nvSpPr>
        <p:spPr>
          <a:xfrm>
            <a:off x="539750" y="3284538"/>
            <a:ext cx="8064500" cy="2952750"/>
          </a:xfrm>
          <a:prstGeom prst="rect">
            <a:avLst/>
          </a:prstGeom>
        </p:spPr>
        <p:txBody>
          <a:bodyPr numCol="2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None/>
              <a:tabLst/>
              <a:defRPr b="0"/>
            </a:lvl1pPr>
            <a:lvl2pPr marL="173736" marR="0" indent="-173736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Char char="§"/>
              <a:tabLst/>
              <a:defRPr/>
            </a:lvl2pPr>
            <a:lvl3pPr marL="402336" indent="-164592">
              <a:buClr>
                <a:srgbClr val="F1B300"/>
              </a:buClr>
              <a:buFont typeface="Wingdings" panose="05000000000000000000" pitchFamily="2" charset="2"/>
              <a:buChar char="§"/>
              <a:defRPr/>
            </a:lvl3pPr>
            <a:lvl4pPr marL="630936" indent="-164592">
              <a:buClr>
                <a:srgbClr val="F1B300"/>
              </a:buClr>
              <a:buFont typeface="Wingdings" panose="05000000000000000000" pitchFamily="2" charset="2"/>
              <a:buChar char="§"/>
              <a:defRPr/>
            </a:lvl4pPr>
            <a:lvl5pPr marL="859536" indent="-173736">
              <a:buClr>
                <a:srgbClr val="F1B300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dirty="0"/>
              <a:t>Texte Arial noir – avec ou sans puces - Texte Arial noir – avec ou sans puces -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dirty="0"/>
              <a:t>Texte Arial noir – avec ou sans puces - Texte Arial noir – avec ou sans puces -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dirty="0"/>
              <a:t>Texte Arial noir – avec ou sans puces - Texte Arial noir – avec ou sans puces - </a:t>
            </a:r>
          </a:p>
          <a:p>
            <a:pPr lvl="0"/>
            <a:endParaRPr lang="fr-FR" dirty="0"/>
          </a:p>
          <a:p>
            <a:pPr lvl="1"/>
            <a:r>
              <a:rPr lang="fr-FR" dirty="0"/>
              <a:t>Puce</a:t>
            </a:r>
          </a:p>
          <a:p>
            <a:pPr marL="173736" marR="0" lvl="1" indent="-173736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dirty="0"/>
              <a:t>Puce</a:t>
            </a:r>
          </a:p>
          <a:p>
            <a:pPr marL="173736" marR="0" lvl="1" indent="-173736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dirty="0"/>
              <a:t>Puce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dirty="0"/>
              <a:t>Texte Arial noir – avec ou sans puces - Texte Arial noir – avec ou sans puces -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fr-FR" dirty="0"/>
              <a:t>Texte Arial noir – avec ou sans puces - Texte Arial noir – avec ou sans puces - </a:t>
            </a:r>
          </a:p>
          <a:p>
            <a:pPr marL="173736" marR="0" lvl="1" indent="-173736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fr-FR" dirty="0"/>
          </a:p>
          <a:p>
            <a:pPr lvl="1"/>
            <a:r>
              <a:rPr lang="fr-FR" dirty="0"/>
              <a:t>Puce</a:t>
            </a:r>
          </a:p>
          <a:p>
            <a:pPr marL="173736" marR="0" lvl="1" indent="-173736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dirty="0"/>
              <a:t>Puce</a:t>
            </a:r>
          </a:p>
          <a:p>
            <a:pPr marL="173736" marR="0" lvl="1" indent="-173736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dirty="0"/>
              <a:t>Puce</a:t>
            </a:r>
          </a:p>
          <a:p>
            <a:pPr lvl="1"/>
            <a:r>
              <a:rPr lang="fr-FR" dirty="0"/>
              <a:t>Puce</a:t>
            </a:r>
          </a:p>
          <a:p>
            <a:pPr marL="173736" marR="0" lvl="1" indent="-173736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1B3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dirty="0"/>
              <a:t>Puce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9973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ableau 5"/>
          <p:cNvSpPr>
            <a:spLocks noGrp="1"/>
          </p:cNvSpPr>
          <p:nvPr>
            <p:ph type="tbl" sz="quarter" idx="12"/>
          </p:nvPr>
        </p:nvSpPr>
        <p:spPr>
          <a:xfrm>
            <a:off x="539750" y="3284538"/>
            <a:ext cx="8280400" cy="295275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sur l'icône pour ajouter un tableau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539552" y="2564904"/>
            <a:ext cx="4968552" cy="431750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FF9800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Modifiez le sous-titre – Arial Gras 18</a:t>
            </a:r>
          </a:p>
        </p:txBody>
      </p:sp>
      <p:sp>
        <p:nvSpPr>
          <p:cNvPr id="7" name="Espace réservé du texte 4"/>
          <p:cNvSpPr>
            <a:spLocks noGrp="1"/>
          </p:cNvSpPr>
          <p:nvPr>
            <p:ph type="body" sz="quarter" idx="14" hasCustomPrompt="1"/>
          </p:nvPr>
        </p:nvSpPr>
        <p:spPr>
          <a:xfrm>
            <a:off x="3563888" y="1052736"/>
            <a:ext cx="4968552" cy="4317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FF9800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fr-FR" dirty="0"/>
              <a:t>Modifiez le titre – Arial Gras 20</a:t>
            </a:r>
          </a:p>
        </p:txBody>
      </p:sp>
    </p:spTree>
    <p:extLst>
      <p:ext uri="{BB962C8B-B14F-4D97-AF65-F5344CB8AC3E}">
        <p14:creationId xmlns:p14="http://schemas.microsoft.com/office/powerpoint/2010/main" val="3373345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3155489" y="3068961"/>
            <a:ext cx="2808312" cy="2304256"/>
          </a:xfrm>
          <a:prstGeom prst="rect">
            <a:avLst/>
          </a:prstGeom>
          <a:solidFill>
            <a:srgbClr val="F2F2F2">
              <a:alpha val="9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 hasCustomPrompt="1"/>
          </p:nvPr>
        </p:nvSpPr>
        <p:spPr>
          <a:xfrm>
            <a:off x="3311698" y="3386663"/>
            <a:ext cx="2484438" cy="1668852"/>
          </a:xfrm>
          <a:prstGeom prst="rect">
            <a:avLst/>
          </a:prstGeom>
        </p:spPr>
        <p:txBody>
          <a:bodyPr/>
          <a:lstStyle>
            <a:lvl1pPr marL="0" indent="0" algn="ctr">
              <a:defRPr sz="32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fr-FR" dirty="0"/>
              <a:t>MERCI DE VOTRE ATTENTION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84"/>
            <a:ext cx="9144000" cy="576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/>
          <p:cNvSpPr/>
          <p:nvPr/>
        </p:nvSpPr>
        <p:spPr>
          <a:xfrm>
            <a:off x="0" y="5949319"/>
            <a:ext cx="9147251" cy="425233"/>
          </a:xfrm>
          <a:prstGeom prst="rect">
            <a:avLst/>
          </a:prstGeom>
          <a:solidFill>
            <a:srgbClr val="FF98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Picture 4" descr="C:\Users\msejourn\Desktop\Alliance-Artem-Blanc-B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374553"/>
            <a:ext cx="809425" cy="404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1" descr="C:\Users\msejourn\Desktop\Accreditations-ppt-2016-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6353411"/>
            <a:ext cx="1605339" cy="446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/>
          <p:cNvSpPr/>
          <p:nvPr/>
        </p:nvSpPr>
        <p:spPr>
          <a:xfrm>
            <a:off x="3155488" y="765498"/>
            <a:ext cx="2808313" cy="2303463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316" y="1189372"/>
            <a:ext cx="2712656" cy="151991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158" y="6458253"/>
            <a:ext cx="1906972" cy="23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36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pied de page 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89B9F098-2F63-4B7A-BF90-A3A7E9CAD6C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2645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u pied de page 2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38B12141-95B6-4A61-9EA1-65C54444E246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0216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rganigramme : Processus 13"/>
          <p:cNvSpPr/>
          <p:nvPr/>
        </p:nvSpPr>
        <p:spPr>
          <a:xfrm>
            <a:off x="525272" y="44624"/>
            <a:ext cx="1604515" cy="144016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3"/>
              <a:gd name="connsiteX1" fmla="*/ 10000 w 10000"/>
              <a:gd name="connsiteY1" fmla="*/ 0 h 10003"/>
              <a:gd name="connsiteX2" fmla="*/ 10000 w 10000"/>
              <a:gd name="connsiteY2" fmla="*/ 10000 h 10003"/>
              <a:gd name="connsiteX3" fmla="*/ 4624 w 10000"/>
              <a:gd name="connsiteY3" fmla="*/ 10003 h 10003"/>
              <a:gd name="connsiteX4" fmla="*/ 0 w 10000"/>
              <a:gd name="connsiteY4" fmla="*/ 10000 h 10003"/>
              <a:gd name="connsiteX5" fmla="*/ 0 w 10000"/>
              <a:gd name="connsiteY5" fmla="*/ 0 h 10003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731 w 10000"/>
              <a:gd name="connsiteY3" fmla="*/ 8455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891 w 10000"/>
              <a:gd name="connsiteY3" fmla="*/ 8872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891 w 10000"/>
              <a:gd name="connsiteY3" fmla="*/ 902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891 w 10000"/>
              <a:gd name="connsiteY3" fmla="*/ 9058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4891" y="905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F98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Organigramme : Processus 13"/>
          <p:cNvSpPr/>
          <p:nvPr/>
        </p:nvSpPr>
        <p:spPr>
          <a:xfrm>
            <a:off x="525272" y="-27384"/>
            <a:ext cx="1604515" cy="144016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3"/>
              <a:gd name="connsiteX1" fmla="*/ 10000 w 10000"/>
              <a:gd name="connsiteY1" fmla="*/ 0 h 10003"/>
              <a:gd name="connsiteX2" fmla="*/ 10000 w 10000"/>
              <a:gd name="connsiteY2" fmla="*/ 10000 h 10003"/>
              <a:gd name="connsiteX3" fmla="*/ 4624 w 10000"/>
              <a:gd name="connsiteY3" fmla="*/ 10003 h 10003"/>
              <a:gd name="connsiteX4" fmla="*/ 0 w 10000"/>
              <a:gd name="connsiteY4" fmla="*/ 10000 h 10003"/>
              <a:gd name="connsiteX5" fmla="*/ 0 w 10000"/>
              <a:gd name="connsiteY5" fmla="*/ 0 h 10003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731 w 10000"/>
              <a:gd name="connsiteY3" fmla="*/ 8455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891 w 10000"/>
              <a:gd name="connsiteY3" fmla="*/ 8872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891 w 10000"/>
              <a:gd name="connsiteY3" fmla="*/ 902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4891 w 10000"/>
              <a:gd name="connsiteY3" fmla="*/ 9058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4891" y="9058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FF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8604448" y="6525345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417A7D7-4490-4FC8-90E6-A99FA5360B7C}" type="slidenum">
              <a:rPr lang="fr-FR" sz="1200" smtClean="0">
                <a:solidFill>
                  <a:srgbClr val="F1B300"/>
                </a:solidFill>
              </a:rPr>
              <a:t>‹N°›</a:t>
            </a:fld>
            <a:endParaRPr lang="fr-FR" sz="1200" dirty="0">
              <a:solidFill>
                <a:srgbClr val="F1B300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07" y="260648"/>
            <a:ext cx="1475213" cy="8265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48" r:id="rId2"/>
    <p:sldLayoutId id="2147483751" r:id="rId3"/>
    <p:sldLayoutId id="2147483752" r:id="rId4"/>
    <p:sldLayoutId id="2147483753" r:id="rId5"/>
    <p:sldLayoutId id="2147483750" r:id="rId6"/>
    <p:sldLayoutId id="2147483754" r:id="rId7"/>
    <p:sldLayoutId id="2147483755" r:id="rId8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>
          <a:xfrm>
            <a:off x="3314786" y="3166800"/>
            <a:ext cx="2520925" cy="753557"/>
          </a:xfrm>
        </p:spPr>
        <p:txBody>
          <a:bodyPr/>
          <a:lstStyle/>
          <a:p>
            <a:r>
              <a:rPr lang="fr-FR" sz="1400" b="1" dirty="0"/>
              <a:t>Analyse financière Fondamentale</a:t>
            </a:r>
          </a:p>
          <a:p>
            <a:pPr>
              <a:spcAft>
                <a:spcPts val="600"/>
              </a:spcAft>
            </a:pPr>
            <a:br>
              <a:rPr lang="fr-FR" sz="1400" b="1" dirty="0"/>
            </a:br>
            <a:br>
              <a:rPr lang="fr-FR" sz="1600" b="1" dirty="0"/>
            </a:br>
            <a:r>
              <a:rPr lang="fr-FR" sz="1050" b="1" dirty="0">
                <a:solidFill>
                  <a:srgbClr val="FF0000"/>
                </a:solidFill>
              </a:rPr>
              <a:t>Dossier à rendre : Consignes</a:t>
            </a:r>
          </a:p>
          <a:p>
            <a:endParaRPr lang="fr-FR" sz="18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3207750" y="4393332"/>
            <a:ext cx="2734998" cy="855159"/>
          </a:xfrm>
        </p:spPr>
        <p:txBody>
          <a:bodyPr/>
          <a:lstStyle/>
          <a:p>
            <a:r>
              <a:rPr lang="fr-FR" sz="1200" b="1" dirty="0"/>
              <a:t>Contact: </a:t>
            </a:r>
            <a:br>
              <a:rPr lang="fr-FR" sz="1200" dirty="0"/>
            </a:br>
            <a:r>
              <a:rPr lang="fr-FR" sz="1200" dirty="0"/>
              <a:t>alexandre.gas1@icn-artem.com</a:t>
            </a:r>
            <a:br>
              <a:rPr lang="fr-FR" sz="1200" dirty="0"/>
            </a:br>
            <a:r>
              <a:rPr lang="fr-FR" sz="1200" dirty="0"/>
              <a:t>aziza.garsaa@icn-artem.com</a:t>
            </a:r>
            <a:br>
              <a:rPr lang="fr-FR" sz="1200" dirty="0"/>
            </a:br>
            <a:endParaRPr lang="fr-FR" sz="1200" dirty="0"/>
          </a:p>
          <a:p>
            <a:br>
              <a:rPr lang="fr-FR" sz="1200" dirty="0"/>
            </a:br>
            <a:endParaRPr lang="fr-FR" sz="1200" dirty="0"/>
          </a:p>
          <a:p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001882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Formation des groupes de travail 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6"/>
          </p:nvPr>
        </p:nvSpPr>
        <p:spPr>
          <a:xfrm>
            <a:off x="708080" y="2259724"/>
            <a:ext cx="8075702" cy="410413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dirty="0"/>
              <a:t>Le nombre d’étudiants par groupe de travail doit </a:t>
            </a:r>
            <a:r>
              <a:rPr lang="fr-FR" sz="1400" b="1" u="sng" dirty="0"/>
              <a:t>se limiter à 5</a:t>
            </a:r>
            <a:r>
              <a:rPr lang="fr-FR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fr-FR" sz="1400" dirty="0"/>
              <a:t>Chaque porte parole (désigné par les différents membres du groupe) doit envoyer un mail à l’enseignant(e)* en mentionnant l’ensemble des membres du groupe (</a:t>
            </a:r>
            <a:r>
              <a:rPr lang="fr-FR" sz="1400" b="1" u="sng" dirty="0"/>
              <a:t>Deadline : </a:t>
            </a:r>
            <a:r>
              <a:rPr lang="fr-FR" sz="1400" b="1" u="sng" dirty="0">
                <a:solidFill>
                  <a:srgbClr val="FF0000"/>
                </a:solidFill>
              </a:rPr>
              <a:t>dimanche 11 octobre 2026 à minuit</a:t>
            </a:r>
            <a:r>
              <a:rPr lang="fr-FR" sz="1400" dirty="0"/>
              <a:t>). Objet du mail : </a:t>
            </a:r>
          </a:p>
          <a:p>
            <a:pPr marL="916686" lvl="3" indent="-285750">
              <a:spcBef>
                <a:spcPts val="0"/>
              </a:spcBef>
            </a:pPr>
            <a:r>
              <a:rPr lang="fr-FR" sz="1400" dirty="0"/>
              <a:t>« Groupe de travail – AFF – </a:t>
            </a:r>
            <a:r>
              <a:rPr lang="fr-FR" sz="1400" b="1" dirty="0"/>
              <a:t>Groupe Nancy</a:t>
            </a:r>
            <a:r>
              <a:rPr lang="fr-FR" sz="1400" dirty="0"/>
              <a:t>». </a:t>
            </a:r>
          </a:p>
          <a:p>
            <a:pPr marL="973836" lvl="3" indent="-342900">
              <a:spcBef>
                <a:spcPts val="0"/>
              </a:spcBef>
            </a:pPr>
            <a:r>
              <a:rPr lang="fr-FR" sz="1400" dirty="0"/>
              <a:t>« Groupe de travail – AFF </a:t>
            </a:r>
            <a:r>
              <a:rPr lang="fr-FR" sz="1400" b="1" dirty="0"/>
              <a:t>– Groupe  Paris</a:t>
            </a:r>
            <a:r>
              <a:rPr lang="fr-FR" sz="1400" dirty="0"/>
              <a:t> 1». </a:t>
            </a:r>
          </a:p>
          <a:p>
            <a:pPr marL="973836" lvl="3" indent="-342900">
              <a:spcBef>
                <a:spcPts val="0"/>
              </a:spcBef>
            </a:pPr>
            <a:r>
              <a:rPr lang="fr-FR" sz="1400" dirty="0"/>
              <a:t>« Groupe de travail – AFF </a:t>
            </a:r>
            <a:r>
              <a:rPr lang="fr-FR" sz="1400" b="1" dirty="0"/>
              <a:t>– Groupe  Paris</a:t>
            </a:r>
            <a:r>
              <a:rPr lang="fr-FR" sz="1400" dirty="0"/>
              <a:t> 2». </a:t>
            </a:r>
          </a:p>
          <a:p>
            <a:pPr lvl="1" indent="0">
              <a:spcBef>
                <a:spcPts val="0"/>
              </a:spcBef>
              <a:buNone/>
            </a:pP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dirty="0"/>
              <a:t>Contact / envoi du mail : </a:t>
            </a:r>
          </a:p>
          <a:p>
            <a:pPr marL="688086" lvl="2" indent="-285750"/>
            <a:r>
              <a:rPr lang="fr-FR" sz="1400" b="1" dirty="0"/>
              <a:t>Paris</a:t>
            </a:r>
            <a:r>
              <a:rPr lang="fr-FR" sz="1400" dirty="0"/>
              <a:t> (Groupes 1 &amp; 2)</a:t>
            </a:r>
            <a:r>
              <a:rPr lang="fr-FR" sz="1400" b="1" dirty="0"/>
              <a:t> </a:t>
            </a:r>
            <a:r>
              <a:rPr lang="fr-FR" sz="1400" dirty="0">
                <a:sym typeface="Wingdings" panose="05000000000000000000" pitchFamily="2" charset="2"/>
              </a:rPr>
              <a:t> </a:t>
            </a:r>
            <a:r>
              <a:rPr lang="fr-FR" sz="1400" dirty="0"/>
              <a:t> </a:t>
            </a:r>
            <a:r>
              <a:rPr lang="fr-FR" sz="1400" dirty="0">
                <a:solidFill>
                  <a:srgbClr val="FF0000"/>
                </a:solidFill>
                <a:sym typeface="Wingdings" panose="05000000000000000000" pitchFamily="2" charset="2"/>
              </a:rPr>
              <a:t>aziza.garsaa@icn-artem.com</a:t>
            </a:r>
          </a:p>
          <a:p>
            <a:pPr marL="688086" lvl="2" indent="-285750"/>
            <a:r>
              <a:rPr lang="fr-FR" sz="1400" b="1" dirty="0">
                <a:sym typeface="Wingdings" panose="05000000000000000000" pitchFamily="2" charset="2"/>
              </a:rPr>
              <a:t>Nancy</a:t>
            </a:r>
            <a:r>
              <a:rPr lang="fr-FR" sz="1400" dirty="0">
                <a:sym typeface="Wingdings" panose="05000000000000000000" pitchFamily="2" charset="2"/>
              </a:rPr>
              <a:t>  </a:t>
            </a:r>
            <a:r>
              <a:rPr lang="fr-FR" sz="1400" dirty="0">
                <a:solidFill>
                  <a:srgbClr val="FF0000"/>
                </a:solidFill>
              </a:rPr>
              <a:t>alexandre.gas1@icn-artem.com</a:t>
            </a:r>
            <a:br>
              <a:rPr lang="fr-FR" sz="1400" dirty="0">
                <a:solidFill>
                  <a:srgbClr val="FF0000"/>
                </a:solidFill>
              </a:rPr>
            </a:br>
            <a:br>
              <a:rPr lang="fr-FR" sz="1400" dirty="0"/>
            </a:br>
            <a:r>
              <a:rPr lang="fr-FR" sz="1400" dirty="0"/>
              <a:t> </a:t>
            </a:r>
            <a:endParaRPr lang="fr-FR" sz="14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531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Contenu et méthodologie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539750" y="2832597"/>
            <a:ext cx="8064500" cy="295275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Le travail consiste à collecter et analyser des données financières directement depuis la base de données </a:t>
            </a:r>
            <a:r>
              <a:rPr lang="fr-FR" b="1" u="sng" dirty="0"/>
              <a:t>CAP FINANCIALS ou des rapports annuels</a:t>
            </a:r>
            <a:r>
              <a:rPr lang="fr-FR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Méthodologie: </a:t>
            </a:r>
          </a:p>
          <a:p>
            <a:pPr marL="459486" lvl="1" indent="-285750">
              <a:buFont typeface="Wingdings" panose="05000000000000000000" pitchFamily="2" charset="2"/>
              <a:buChar char="q"/>
            </a:pPr>
            <a:r>
              <a:rPr lang="fr-FR" dirty="0"/>
              <a:t>Choisir une entreprise/ un groupe dont les données financières (comptes consolidés) sont renseignées durant au moins les quatre dernières années (2021 -2025). </a:t>
            </a:r>
          </a:p>
          <a:p>
            <a:pPr marL="459486" lvl="1" indent="-285750">
              <a:buFont typeface="Wingdings" panose="05000000000000000000" pitchFamily="2" charset="2"/>
              <a:buChar char="q"/>
            </a:pPr>
            <a:r>
              <a:rPr lang="fr-FR" dirty="0"/>
              <a:t>L’entité retenue </a:t>
            </a:r>
            <a:r>
              <a:rPr lang="fr-FR" b="1" u="sng" dirty="0">
                <a:solidFill>
                  <a:srgbClr val="FF0000"/>
                </a:solidFill>
              </a:rPr>
              <a:t>ne doit pas avoir été traitée en cours. </a:t>
            </a:r>
          </a:p>
          <a:p>
            <a:pPr marL="459486" lvl="1" indent="-285750">
              <a:buFont typeface="Wingdings" panose="05000000000000000000" pitchFamily="2" charset="2"/>
              <a:buChar char="q"/>
            </a:pPr>
            <a:r>
              <a:rPr lang="fr-FR" dirty="0"/>
              <a:t>Rédiger un rapport financier argumenté inspiré du </a:t>
            </a:r>
            <a:r>
              <a:rPr lang="fr-FR" b="1" u="sng" dirty="0"/>
              <a:t>plan type présenté en cours </a:t>
            </a:r>
            <a:r>
              <a:rPr lang="fr-FR" dirty="0"/>
              <a:t>(exemple: « Dassault Aviation ») 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780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399A10-CF0F-4854-9509-40FE41D633EB}"/>
              </a:ext>
            </a:extLst>
          </p:cNvPr>
          <p:cNvSpPr txBox="1">
            <a:spLocks/>
          </p:cNvSpPr>
          <p:nvPr/>
        </p:nvSpPr>
        <p:spPr>
          <a:xfrm>
            <a:off x="7812361" y="5103187"/>
            <a:ext cx="411956" cy="297656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5C3235-FBA5-4018-AF45-9A244D81024A}" type="slidenum">
              <a:rPr lang="fr-FR" sz="1350"/>
              <a:pPr/>
              <a:t>4</a:t>
            </a:fld>
            <a:endParaRPr lang="fr-FR" sz="135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Plan à suivre</a:t>
            </a:r>
          </a:p>
          <a:p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539750" y="2249213"/>
            <a:ext cx="8064500" cy="413056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b="1" dirty="0"/>
              <a:t>Partie 1</a:t>
            </a:r>
            <a:r>
              <a:rPr lang="fr-FR" sz="1400" dirty="0"/>
              <a:t> : Analyse du secteur d’activité (évolution du secteur, des parts de marché, modifications stratégiques à venir, impact de la technologie, positions concurrentielles, …)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b="1" dirty="0"/>
              <a:t>Partie 2</a:t>
            </a:r>
            <a:r>
              <a:rPr lang="fr-FR" sz="1400" dirty="0"/>
              <a:t> : Analyse des stratégies développées : les contraintes stratégiques du secteur, les nouveaux entrants, les réponses stratégiques offensives et défensives. Comportement des différents intervenants. Analyse plus précise des choix de développement de l’entreprise.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b="1" dirty="0"/>
              <a:t>Partie 3</a:t>
            </a:r>
            <a:r>
              <a:rPr lang="fr-FR" sz="1400" dirty="0"/>
              <a:t> : Analyse des données financières</a:t>
            </a:r>
          </a:p>
          <a:p>
            <a:pPr marL="459486" lvl="1" indent="-285750"/>
            <a:r>
              <a:rPr lang="fr-FR" sz="1400" dirty="0"/>
              <a:t>Analyse du compte de résultat (évolution du chiffre d’affaires, de la valeur ajoutée, des marges d’exploitation, impact du résultat financier et du résultat net)</a:t>
            </a:r>
          </a:p>
          <a:p>
            <a:pPr marL="459486" lvl="1" indent="-285750"/>
            <a:r>
              <a:rPr lang="fr-FR" sz="1400" dirty="0"/>
              <a:t>Analyse du bilan (poids des immobilisations dans le total du bilan, niveau d’endettement, analyse du poids du BFR)</a:t>
            </a:r>
          </a:p>
          <a:p>
            <a:pPr marL="459486" lvl="1" indent="-285750"/>
            <a:r>
              <a:rPr lang="fr-FR" sz="1400" dirty="0"/>
              <a:t>Analyse du tableau de financement (génération du free cash-flow, politique d’investissement, variation de l’endettement, autres éléments significatifs (éventuellement cession et acquisitions externes)</a:t>
            </a:r>
          </a:p>
          <a:p>
            <a:pPr marL="459486" lvl="1" indent="-285750"/>
            <a:r>
              <a:rPr lang="fr-FR" sz="1400" dirty="0"/>
              <a:t>Evaluation par différentes méthodes d’évaluation DCF et multiples </a:t>
            </a:r>
          </a:p>
          <a:p>
            <a:pPr marL="459486" lvl="1" indent="-285750"/>
            <a:r>
              <a:rPr lang="fr-FR" sz="1400" dirty="0"/>
              <a:t>Principaux ratios</a:t>
            </a:r>
          </a:p>
          <a:p>
            <a:pPr marL="459486" lvl="1" indent="-285750">
              <a:buFont typeface="Courier New" panose="02070309020205020404" pitchFamily="49" charset="0"/>
              <a:buChar char="o"/>
            </a:pPr>
            <a:endParaRPr lang="fr-FR" sz="14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altLang="fr-FR" sz="1400" b="1" dirty="0"/>
              <a:t>Synthèse : </a:t>
            </a:r>
            <a:r>
              <a:rPr lang="fr-FR" altLang="fr-FR" sz="1400" dirty="0"/>
              <a:t>matrice SWOT (forces, faiblesses, menaces et opportunités de l’entreprise) </a:t>
            </a:r>
          </a:p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895936436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Rendu 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6"/>
          </p:nvPr>
        </p:nvSpPr>
        <p:spPr>
          <a:xfrm>
            <a:off x="708080" y="1714490"/>
            <a:ext cx="8075702" cy="4267201"/>
          </a:xfrm>
        </p:spPr>
        <p:txBody>
          <a:bodyPr/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fr-FR" sz="1400" dirty="0"/>
              <a:t>Le dossier complet doit être déposé dans l’espace de dépôt (</a:t>
            </a:r>
            <a:r>
              <a:rPr lang="fr-FR" sz="1400" b="1" u="sng" dirty="0"/>
              <a:t>accessible depuis Moodle</a:t>
            </a:r>
            <a:r>
              <a:rPr lang="fr-FR" sz="1400" dirty="0"/>
              <a:t>) intitulé: </a:t>
            </a:r>
          </a:p>
          <a:p>
            <a:pPr marL="916686" lvl="3" indent="-285750"/>
            <a:r>
              <a:rPr lang="fr-FR" sz="1400" dirty="0"/>
              <a:t>« Dossier à rendre -- AFF – 2026-2027 – </a:t>
            </a:r>
            <a:r>
              <a:rPr lang="fr-FR" sz="1400" b="1" dirty="0"/>
              <a:t>Groupe Nancy</a:t>
            </a:r>
            <a:r>
              <a:rPr lang="fr-FR" sz="1400" dirty="0"/>
              <a:t>» </a:t>
            </a:r>
          </a:p>
          <a:p>
            <a:pPr lvl="1" indent="0">
              <a:buNone/>
            </a:pPr>
            <a:r>
              <a:rPr lang="fr-FR" sz="1400" b="1" dirty="0"/>
              <a:t>OU</a:t>
            </a:r>
          </a:p>
          <a:p>
            <a:pPr marL="916686" lvl="3" indent="-285750"/>
            <a:r>
              <a:rPr lang="fr-FR" sz="1400" dirty="0"/>
              <a:t>« Dossier à rendre -- AFF – 2026-2027 – </a:t>
            </a:r>
            <a:r>
              <a:rPr lang="fr-FR" sz="1400" b="1" dirty="0"/>
              <a:t>Groupe Paris</a:t>
            </a:r>
            <a:r>
              <a:rPr lang="fr-FR" sz="1400" dirty="0"/>
              <a:t> </a:t>
            </a:r>
            <a:r>
              <a:rPr lang="fr-FR" sz="1400" b="1" dirty="0"/>
              <a:t>1</a:t>
            </a:r>
            <a:r>
              <a:rPr lang="fr-FR" sz="1400" dirty="0"/>
              <a:t>» </a:t>
            </a:r>
          </a:p>
          <a:p>
            <a:pPr lvl="1" indent="0">
              <a:buNone/>
            </a:pPr>
            <a:r>
              <a:rPr lang="fr-FR" sz="1400" b="1" dirty="0"/>
              <a:t>OU</a:t>
            </a:r>
          </a:p>
          <a:p>
            <a:pPr marL="916686" lvl="3" indent="-285750"/>
            <a:r>
              <a:rPr lang="fr-FR" sz="1400" dirty="0"/>
              <a:t>« Dossier à rendre -- AFF – 2026-2027 – </a:t>
            </a:r>
            <a:r>
              <a:rPr lang="fr-FR" sz="1400" b="1" dirty="0"/>
              <a:t>Groupe Paris 2</a:t>
            </a:r>
            <a:r>
              <a:rPr lang="fr-FR" sz="1400" dirty="0"/>
              <a:t> »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1400" b="1" u="sng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b="1" u="sng" dirty="0"/>
              <a:t>Deadline</a:t>
            </a:r>
            <a:r>
              <a:rPr lang="fr-FR" sz="1400" dirty="0"/>
              <a:t> : </a:t>
            </a:r>
            <a:r>
              <a:rPr lang="fr-FR" sz="1400" b="1" dirty="0">
                <a:solidFill>
                  <a:srgbClr val="FF0000"/>
                </a:solidFill>
              </a:rPr>
              <a:t>dimanche 20 décembre 2026 à 23h55.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14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b="1" dirty="0"/>
              <a:t>Aucun délai supplémentaire ne sera accordé </a:t>
            </a:r>
            <a:r>
              <a:rPr lang="fr-FR" sz="1400" b="1" dirty="0">
                <a:sym typeface="Wingdings" panose="05000000000000000000" pitchFamily="2" charset="2"/>
              </a:rPr>
              <a:t> </a:t>
            </a:r>
            <a:r>
              <a:rPr lang="fr-FR" sz="1400" b="1" u="sng" dirty="0">
                <a:solidFill>
                  <a:srgbClr val="FF0000"/>
                </a:solidFill>
                <a:sym typeface="Wingdings" panose="05000000000000000000" pitchFamily="2" charset="2"/>
              </a:rPr>
              <a:t>l’espace de dépôt sera automatiquement fermé le dimanche 20/12/2026 à 23h55</a:t>
            </a:r>
            <a:r>
              <a:rPr lang="fr-F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fr-FR" sz="1400" b="1" dirty="0">
                <a:sym typeface="Wingdings" panose="05000000000000000000" pitchFamily="2" charset="2"/>
              </a:rPr>
              <a:t>(un seul dépôt par groupe de travail).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1400" b="1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b="1" dirty="0">
                <a:sym typeface="Wingdings" panose="05000000000000000000" pitchFamily="2" charset="2"/>
              </a:rPr>
              <a:t>Attention:  Il faut déposer </a:t>
            </a:r>
            <a:r>
              <a:rPr lang="fr-F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2 fichiers max par groupe (de préférence </a:t>
            </a:r>
            <a:r>
              <a:rPr lang="fr-FR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ppt</a:t>
            </a:r>
            <a:r>
              <a:rPr lang="fr-F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 et </a:t>
            </a:r>
            <a:r>
              <a:rPr lang="fr-FR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excel</a:t>
            </a:r>
            <a:r>
              <a:rPr lang="fr-F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) </a:t>
            </a:r>
            <a:r>
              <a:rPr lang="fr-FR" sz="1400" b="1" dirty="0">
                <a:sym typeface="Wingdings" panose="05000000000000000000" pitchFamily="2" charset="2"/>
              </a:rPr>
              <a:t>et la taille de chacun d’eux ne doit pas excédée </a:t>
            </a:r>
            <a:r>
              <a:rPr lang="fr-F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3Go</a:t>
            </a:r>
            <a:r>
              <a:rPr lang="fr-FR" sz="1400" b="1" dirty="0">
                <a:sym typeface="Wingdings" panose="05000000000000000000" pitchFamily="2" charset="2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1400" b="1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Seuls les fichiers power point, </a:t>
            </a:r>
            <a:r>
              <a:rPr lang="fr-FR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pdf</a:t>
            </a:r>
            <a:r>
              <a:rPr lang="fr-F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 et Excel (</a:t>
            </a:r>
            <a:r>
              <a:rPr lang="fr-FR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xls</a:t>
            </a:r>
            <a:r>
              <a:rPr lang="fr-F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 et </a:t>
            </a:r>
            <a:r>
              <a:rPr lang="fr-FR" sz="1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xlsx</a:t>
            </a:r>
            <a:r>
              <a:rPr lang="fr-F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) sont acceptés sur Moodle.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14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b="1" dirty="0">
                <a:solidFill>
                  <a:srgbClr val="FF0000"/>
                </a:solidFill>
              </a:rPr>
              <a:t>Dossier</a:t>
            </a:r>
            <a:r>
              <a:rPr lang="fr-FR" sz="1400" b="1" dirty="0"/>
              <a:t> </a:t>
            </a:r>
            <a:r>
              <a:rPr lang="fr-FR" sz="1400" b="1" dirty="0">
                <a:solidFill>
                  <a:srgbClr val="FF0000"/>
                </a:solidFill>
              </a:rPr>
              <a:t>non rendu ou rendu après la deadline</a:t>
            </a:r>
            <a:r>
              <a:rPr lang="fr-FR" sz="1400" b="1" dirty="0"/>
              <a:t> </a:t>
            </a:r>
            <a:r>
              <a:rPr lang="fr-FR" sz="1400" b="1" dirty="0">
                <a:sym typeface="Wingdings" panose="05000000000000000000" pitchFamily="2" charset="2"/>
              </a:rPr>
              <a:t> </a:t>
            </a:r>
            <a:r>
              <a:rPr lang="fr-F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Note CC = 0.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14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1400" b="1" dirty="0">
                <a:solidFill>
                  <a:srgbClr val="FF0000"/>
                </a:solidFill>
              </a:rPr>
              <a:t>Aucun dossier envoyé par mail ne sera accepté </a:t>
            </a:r>
            <a:r>
              <a:rPr lang="fr-FR" sz="1400" b="1" dirty="0">
                <a:sym typeface="Wingdings" panose="05000000000000000000" pitchFamily="2" charset="2"/>
              </a:rPr>
              <a:t> </a:t>
            </a:r>
            <a:r>
              <a:rPr lang="fr-FR" sz="1400" b="1" dirty="0">
                <a:solidFill>
                  <a:srgbClr val="FF0000"/>
                </a:solidFill>
                <a:sym typeface="Wingdings" panose="05000000000000000000" pitchFamily="2" charset="2"/>
              </a:rPr>
              <a:t>Note CC = 0. </a:t>
            </a:r>
            <a:endParaRPr lang="fr-FR" sz="1400" b="1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sz="1400" b="1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400" dirty="0"/>
          </a:p>
          <a:p>
            <a:pPr>
              <a:lnSpc>
                <a:spcPct val="150000"/>
              </a:lnSpc>
            </a:pP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676033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3563888" y="768958"/>
            <a:ext cx="4968552" cy="431750"/>
          </a:xfrm>
        </p:spPr>
        <p:txBody>
          <a:bodyPr/>
          <a:lstStyle/>
          <a:p>
            <a:r>
              <a:rPr lang="en-GB" dirty="0"/>
              <a:t>Les </a:t>
            </a:r>
            <a:r>
              <a:rPr lang="en-GB" dirty="0" err="1"/>
              <a:t>espaces</a:t>
            </a:r>
            <a:r>
              <a:rPr lang="en-GB" dirty="0"/>
              <a:t> de </a:t>
            </a:r>
            <a:r>
              <a:rPr lang="en-GB" dirty="0" err="1"/>
              <a:t>dépôt</a:t>
            </a:r>
            <a:r>
              <a:rPr lang="en-GB" dirty="0"/>
              <a:t> </a:t>
            </a:r>
            <a:r>
              <a:rPr lang="en-GB" dirty="0" err="1"/>
              <a:t>sont</a:t>
            </a:r>
            <a:r>
              <a:rPr lang="en-GB" dirty="0"/>
              <a:t> </a:t>
            </a:r>
            <a:r>
              <a:rPr lang="en-GB" dirty="0" err="1"/>
              <a:t>accessibles</a:t>
            </a:r>
            <a:r>
              <a:rPr lang="en-GB" dirty="0"/>
              <a:t> à </a:t>
            </a:r>
            <a:r>
              <a:rPr lang="en-GB" dirty="0" err="1"/>
              <a:t>partir</a:t>
            </a:r>
            <a:r>
              <a:rPr lang="en-GB" dirty="0"/>
              <a:t> </a:t>
            </a:r>
            <a:r>
              <a:rPr lang="en-GB" dirty="0" err="1"/>
              <a:t>d’aujourdhui</a:t>
            </a:r>
            <a:r>
              <a:rPr lang="en-GB" dirty="0"/>
              <a:t> sur Moodle!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15" y="1933283"/>
            <a:ext cx="7995684" cy="3765899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287080" y="5784111"/>
            <a:ext cx="8431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Merci de bien vouloir vérifier dès maintenant votre accès au “devoir” (espace de dépôt) sur votre espace Moodle! </a:t>
            </a:r>
          </a:p>
        </p:txBody>
      </p:sp>
    </p:spTree>
    <p:extLst>
      <p:ext uri="{BB962C8B-B14F-4D97-AF65-F5344CB8AC3E}">
        <p14:creationId xmlns:p14="http://schemas.microsoft.com/office/powerpoint/2010/main" val="2753645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Contacts 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Responsable du module </a:t>
            </a:r>
            <a:r>
              <a:rPr lang="fr-FR" dirty="0"/>
              <a:t>: </a:t>
            </a:r>
            <a:r>
              <a:rPr lang="fr-FR" b="1" dirty="0">
                <a:solidFill>
                  <a:schemeClr val="accent1"/>
                </a:solidFill>
              </a:rPr>
              <a:t>aziza.garsaa@icn-artem.com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Campus de Paris </a:t>
            </a:r>
            <a:r>
              <a:rPr lang="fr-FR" dirty="0"/>
              <a:t>: </a:t>
            </a:r>
            <a:r>
              <a:rPr lang="fr-FR" b="1" dirty="0">
                <a:solidFill>
                  <a:schemeClr val="accent1"/>
                </a:solidFill>
              </a:rPr>
              <a:t>aziza.garsaa@icn-artem.com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Campus de Nancy</a:t>
            </a:r>
            <a:r>
              <a:rPr lang="fr-FR" dirty="0"/>
              <a:t>: </a:t>
            </a:r>
            <a:r>
              <a:rPr lang="fr-FR" b="1" dirty="0">
                <a:solidFill>
                  <a:schemeClr val="accent1"/>
                </a:solidFill>
              </a:rPr>
              <a:t>alexandre.gas1@icn-artem.com</a:t>
            </a:r>
          </a:p>
        </p:txBody>
      </p:sp>
    </p:spTree>
    <p:extLst>
      <p:ext uri="{BB962C8B-B14F-4D97-AF65-F5344CB8AC3E}">
        <p14:creationId xmlns:p14="http://schemas.microsoft.com/office/powerpoint/2010/main" val="2206534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MERCI DE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696598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ème ICN">
  <a:themeElements>
    <a:clrScheme name="Personnalisé 2">
      <a:dk1>
        <a:srgbClr val="181818"/>
      </a:dk1>
      <a:lt1>
        <a:sysClr val="window" lastClr="FFFFFF"/>
      </a:lt1>
      <a:dk2>
        <a:srgbClr val="FF9800"/>
      </a:dk2>
      <a:lt2>
        <a:srgbClr val="F2F2F2"/>
      </a:lt2>
      <a:accent1>
        <a:srgbClr val="FF9800"/>
      </a:accent1>
      <a:accent2>
        <a:srgbClr val="D8D8D8"/>
      </a:accent2>
      <a:accent3>
        <a:srgbClr val="BFBFBF"/>
      </a:accent3>
      <a:accent4>
        <a:srgbClr val="A5A5A5"/>
      </a:accent4>
      <a:accent5>
        <a:srgbClr val="7F7F7F"/>
      </a:accent5>
      <a:accent6>
        <a:srgbClr val="7F7F7F"/>
      </a:accent6>
      <a:hlink>
        <a:srgbClr val="BFBFBF"/>
      </a:hlink>
      <a:folHlink>
        <a:srgbClr val="7F7F7F"/>
      </a:folHlink>
    </a:clrScheme>
    <a:fontScheme name="ICN BUSINESS SCHOO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 ICN" id="{D356CF88-E52C-4EF4-AF02-E6C11285D383}" vid="{C755BDD8-0A66-400C-9211-DAF3C721D2B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 ICN</Template>
  <TotalTime>0</TotalTime>
  <Words>676</Words>
  <Application>Microsoft Office PowerPoint</Application>
  <PresentationFormat>Affichage à l'écran (4:3)</PresentationFormat>
  <Paragraphs>71</Paragraphs>
  <Slides>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Courier New</vt:lpstr>
      <vt:lpstr>Times New Roman</vt:lpstr>
      <vt:lpstr>Wingdings</vt:lpstr>
      <vt:lpstr>Thème ICN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aziza garsaa</dc:creator>
  <cp:lastModifiedBy>Stella Yathe</cp:lastModifiedBy>
  <cp:revision>290</cp:revision>
  <dcterms:created xsi:type="dcterms:W3CDTF">2017-11-17T13:15:13Z</dcterms:created>
  <dcterms:modified xsi:type="dcterms:W3CDTF">2026-09-27T09:01:56Z</dcterms:modified>
</cp:coreProperties>
</file>